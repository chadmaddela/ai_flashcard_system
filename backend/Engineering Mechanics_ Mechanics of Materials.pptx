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ontserrat"/>
      <p:regular r:id="rId22"/>
      <p:bold r:id="rId23"/>
      <p:italic r:id="rId24"/>
      <p:boldItalic r:id="rId25"/>
    </p:embeddedFont>
    <p:embeddedFont>
      <p:font typeface="Open Sans SemiBold"/>
      <p:regular r:id="rId26"/>
      <p:bold r:id="rId27"/>
      <p:italic r:id="rId28"/>
      <p:boldItalic r:id="rId29"/>
    </p:embeddedFont>
    <p:embeddedFont>
      <p:font typeface="Open Sans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E94A015-2946-4B06-8A3B-1EF2C1B9FEA4}">
  <a:tblStyle styleId="{8E94A015-2946-4B06-8A3B-1EF2C1B9FE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24" Type="http://schemas.openxmlformats.org/officeDocument/2006/relationships/font" Target="fonts/Montserrat-italic.fntdata"/><Relationship Id="rId23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SemiBold-regular.fntdata"/><Relationship Id="rId25" Type="http://schemas.openxmlformats.org/officeDocument/2006/relationships/font" Target="fonts/Montserrat-boldItalic.fntdata"/><Relationship Id="rId28" Type="http://schemas.openxmlformats.org/officeDocument/2006/relationships/font" Target="fonts/OpenSansSemiBold-italic.fntdata"/><Relationship Id="rId27" Type="http://schemas.openxmlformats.org/officeDocument/2006/relationships/font" Target="fonts/OpenSans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OpenSans-bold.fntdata"/><Relationship Id="rId30" Type="http://schemas.openxmlformats.org/officeDocument/2006/relationships/font" Target="fonts/OpenSans-regular.fntdata"/><Relationship Id="rId11" Type="http://schemas.openxmlformats.org/officeDocument/2006/relationships/slide" Target="slides/slide5.xml"/><Relationship Id="rId33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32" Type="http://schemas.openxmlformats.org/officeDocument/2006/relationships/font" Target="fonts/OpenSans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11" Type="http://schemas.openxmlformats.org/officeDocument/2006/relationships/image" Target="../media/image1.png"/><Relationship Id="rId10" Type="http://schemas.openxmlformats.org/officeDocument/2006/relationships/image" Target="../media/image8.png"/><Relationship Id="rId9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2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22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1" Type="http://schemas.openxmlformats.org/officeDocument/2006/relationships/image" Target="../media/image29.png"/><Relationship Id="rId10" Type="http://schemas.openxmlformats.org/officeDocument/2006/relationships/image" Target="../media/image25.png"/><Relationship Id="rId12" Type="http://schemas.openxmlformats.org/officeDocument/2006/relationships/image" Target="../media/image22.png"/><Relationship Id="rId9" Type="http://schemas.openxmlformats.org/officeDocument/2006/relationships/image" Target="../media/image23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Relationship Id="rId8" Type="http://schemas.openxmlformats.org/officeDocument/2006/relationships/image" Target="../media/image2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10" Type="http://schemas.openxmlformats.org/officeDocument/2006/relationships/image" Target="../media/image22.png"/><Relationship Id="rId9" Type="http://schemas.openxmlformats.org/officeDocument/2006/relationships/image" Target="../media/image30.png"/><Relationship Id="rId5" Type="http://schemas.openxmlformats.org/officeDocument/2006/relationships/image" Target="../media/image18.png"/><Relationship Id="rId6" Type="http://schemas.openxmlformats.org/officeDocument/2006/relationships/image" Target="../media/image24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8.png"/><Relationship Id="rId6" Type="http://schemas.openxmlformats.org/officeDocument/2006/relationships/image" Target="../media/image42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9.png"/><Relationship Id="rId5" Type="http://schemas.openxmlformats.org/officeDocument/2006/relationships/image" Target="../media/image34.png"/><Relationship Id="rId6" Type="http://schemas.openxmlformats.org/officeDocument/2006/relationships/image" Target="../media/image45.png"/><Relationship Id="rId7" Type="http://schemas.openxmlformats.org/officeDocument/2006/relationships/image" Target="../media/image39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3.png"/><Relationship Id="rId5" Type="http://schemas.openxmlformats.org/officeDocument/2006/relationships/image" Target="../media/image47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5" Type="http://schemas.openxmlformats.org/officeDocument/2006/relationships/image" Target="../media/image3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46.png"/><Relationship Id="rId6" Type="http://schemas.openxmlformats.org/officeDocument/2006/relationships/image" Target="../media/image41.png"/><Relationship Id="rId7" Type="http://schemas.openxmlformats.org/officeDocument/2006/relationships/image" Target="../media/image44.png"/><Relationship Id="rId8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0" y="169158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95587" y="3768030"/>
            <a:ext cx="6600825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Module 5: Stresses in Beams and Combined Loadings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90925" y="4718595"/>
            <a:ext cx="50101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University Physics with Modern Physics (14th Ed.)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775459" y="2739330"/>
            <a:ext cx="864108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Mechanics of Materials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5619750" y="3503265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081462" y="3808065"/>
            <a:ext cx="40290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Internal Forces in Structural Members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585436" y="2541240"/>
            <a:ext cx="9021127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 I: Shear and Moment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33725"/>
            <a:ext cx="5334000" cy="3356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" y="4448175"/>
            <a:ext cx="4905375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" y="5373885"/>
            <a:ext cx="4905375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71500" y="20764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Beams are structural members designed to support loads applied perpendicular to their axes. To analyze them, we find internal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Shear Force (V)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and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Bending Moment (M)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05550" y="2095500"/>
            <a:ext cx="24574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809625" y="369570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The relationship between distributed load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shear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, and moment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540793" y="4648200"/>
            <a:ext cx="1442888" cy="3827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623244" y="5573910"/>
            <a:ext cx="1277987" cy="38278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Internal Force Relationships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38125"/>
            <a:ext cx="555069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SHEAR &amp; MOMENT DIAGRAMS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09625" y="3324225"/>
            <a:ext cx="515064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0000"/>
                </a:solidFill>
                <a:latin typeface="Montserrat"/>
                <a:ea typeface="Montserrat"/>
                <a:cs typeface="Montserrat"/>
                <a:sym typeface="Montserrat"/>
              </a:rPr>
              <a:t>Fundamental Equations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/>
          <p:nvPr/>
        </p:nvSpPr>
        <p:spPr>
          <a:xfrm>
            <a:off x="5619750" y="3503265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4510087" y="3808065"/>
            <a:ext cx="31718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Normal Stress due to Bending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2190511" y="2541240"/>
            <a:ext cx="7810976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 II: Flexural Stress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48125"/>
            <a:ext cx="5334000" cy="14570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571500" y="20764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Bending causes fibers on one side of the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Neutral Axis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to compress and fibers on the other side to stretch (tension).</a:t>
            </a:r>
            <a:endParaRPr/>
          </a:p>
        </p:txBody>
      </p:sp>
      <p:pic>
        <p:nvPicPr>
          <p:cNvPr descr="image.png" id="136" name="Google Shape;13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550" y="2095500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 txBox="1"/>
          <p:nvPr/>
        </p:nvSpPr>
        <p:spPr>
          <a:xfrm>
            <a:off x="904875" y="28384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Neutral Axis: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The axis where stress and strain are zero.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04875" y="32861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Linear Distribution: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Stress varies linearly with distance from the neutral axis.</a:t>
            </a:r>
            <a:endParaRPr/>
          </a:p>
        </p:txBody>
      </p:sp>
      <p:pic>
        <p:nvPicPr>
          <p:cNvPr descr="image.png" id="139" name="Google Shape;13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4238625"/>
            <a:ext cx="4905375" cy="411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809625" y="4745235"/>
            <a:ext cx="490537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Where: M = Bending Moment, y = distance from Neutral Axis, I = Moment of Inertia.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Theory of Pure Bending</a:t>
            </a:r>
            <a:endParaRPr/>
          </a:p>
        </p:txBody>
      </p:sp>
      <p:sp>
        <p:nvSpPr>
          <p:cNvPr id="142" name="Google Shape;142;p17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238125"/>
            <a:ext cx="44705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FLEXURE FORMULA</a:t>
            </a:r>
            <a:endParaRPr/>
          </a:p>
        </p:txBody>
      </p:sp>
      <p:pic>
        <p:nvPicPr>
          <p:cNvPr descr="image.png" id="144" name="Google Shape;144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28765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324225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0" name="Google Shape;1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27034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438525"/>
            <a:ext cx="2105025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96050" y="2733675"/>
            <a:ext cx="4914900" cy="8306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2076450"/>
            <a:ext cx="5334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Problem: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A simply supported beam of length 4m carries a point load of 20kN at its center. The cross-section is rectangular (100mm x 200mm). Calculate the maximum bending stress.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6496050" y="2286000"/>
            <a:ext cx="4914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00000"/>
                </a:solidFill>
                <a:latin typeface="Open Sans"/>
                <a:ea typeface="Open Sans"/>
                <a:cs typeface="Open Sans"/>
                <a:sym typeface="Open Sans"/>
              </a:rPr>
              <a:t>Final Calculation: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496050" y="3754784"/>
            <a:ext cx="49149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E7D32"/>
                </a:solidFill>
                <a:latin typeface="Open Sans"/>
                <a:ea typeface="Open Sans"/>
                <a:cs typeface="Open Sans"/>
                <a:sym typeface="Open Sans"/>
              </a:rPr>
              <a:t>σ = 30.0 MPa</a:t>
            </a:r>
            <a:endParaRPr/>
          </a:p>
        </p:txBody>
      </p:sp>
      <p:pic>
        <p:nvPicPr>
          <p:cNvPr descr="image.png" id="158" name="Google Shape;158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49480" y="2933700"/>
            <a:ext cx="2408039" cy="43055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904875" y="39909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Max Moment: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04875" y="4438650"/>
            <a:ext cx="5000625" cy="3080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Moment of Inertia: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04875" y="4889599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Distance y:</a:t>
            </a:r>
            <a:endParaRPr/>
          </a:p>
        </p:txBody>
      </p:sp>
      <p:pic>
        <p:nvPicPr>
          <p:cNvPr descr="image.png" id="162" name="Google Shape;162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219325" y="4036218"/>
            <a:ext cx="2828925" cy="242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86050" y="4438650"/>
            <a:ext cx="3157983" cy="2914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971675" y="4925317"/>
            <a:ext cx="1176932" cy="25241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Maximum Flexural Stress Calculation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38125"/>
            <a:ext cx="539067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SAMPLE PROBLEM: BENDING</a:t>
            </a:r>
            <a:endParaRPr/>
          </a:p>
        </p:txBody>
      </p:sp>
      <p:pic>
        <p:nvPicPr>
          <p:cNvPr descr="image.png" id="168" name="Google Shape;168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40290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44767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8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4927699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/>
          <p:nvPr/>
        </p:nvSpPr>
        <p:spPr>
          <a:xfrm>
            <a:off x="5619750" y="3503265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4672012" y="3808065"/>
            <a:ext cx="28479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Transverse Shear in Beams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1930479" y="2541240"/>
            <a:ext cx="8331041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 III: Shearing Stress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33725"/>
            <a:ext cx="5334000" cy="7828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20764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Shear stress in a beam is caused by the internal shear force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 Unlike bending stress, it is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maximum at the Neutral Axis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pic>
        <p:nvPicPr>
          <p:cNvPr descr="image.png" id="189" name="Google Shape;189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550" y="2095500"/>
            <a:ext cx="52959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324225"/>
            <a:ext cx="4905375" cy="40183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904875" y="410706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Q: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First moment of the area above the point of interest ( ).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904875" y="485953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Thickness of the beam at the cut.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904875" y="530721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Thin-Walled Members: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Shear flow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q = τt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is used for analysis of webs and flanges.</a:t>
            </a:r>
            <a:endParaRPr/>
          </a:p>
        </p:txBody>
      </p:sp>
      <p:pic>
        <p:nvPicPr>
          <p:cNvPr descr="image.png" id="194" name="Google Shape;19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04875" y="4471987"/>
            <a:ext cx="1036587" cy="206573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Transverse Shear Formula</a:t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238125"/>
            <a:ext cx="400596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SHEARING STRESS (Τ)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14516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489763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534531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5619750" y="3503265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4529137" y="3808065"/>
            <a:ext cx="31337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Determining the Elastic Curve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1175384" y="2541240"/>
            <a:ext cx="984123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 IV: Deflection of Beams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828925"/>
            <a:ext cx="5334000" cy="8783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20764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 find the displacement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v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of a beam, we solve the differential equation based on the bending moment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M(x)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3897808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Common Boundary Conditions:</a:t>
            </a:r>
            <a:endParaRPr/>
          </a:p>
        </p:txBody>
      </p:sp>
      <p:graphicFrame>
        <p:nvGraphicFramePr>
          <p:cNvPr id="220" name="Google Shape;220;p22"/>
          <p:cNvGraphicFramePr/>
          <p:nvPr/>
        </p:nvGraphicFramePr>
        <p:xfrm>
          <a:off x="571500" y="439310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{8E94A015-2946-4B06-8A3B-1EF2C1B9FEA4}</a:tableStyleId>
              </a:tblPr>
              <a:tblGrid>
                <a:gridCol w="2609100"/>
                <a:gridCol w="2724900"/>
              </a:tblGrid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Support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Constraint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00000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Fixed Support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 = 0, dv/dx =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Roller/Pin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 = 0, M =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Free End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3333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 = 0, V = 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descr="image.png" id="221" name="Google Shape;221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550" y="2095500"/>
            <a:ext cx="5295900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019425"/>
            <a:ext cx="4905375" cy="49738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/>
          <p:nvPr/>
        </p:nvSpPr>
        <p:spPr>
          <a:xfrm>
            <a:off x="571500" y="5569446"/>
            <a:ext cx="26091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3180605" y="5569446"/>
            <a:ext cx="272489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2"/>
          <p:cNvSpPr/>
          <p:nvPr/>
        </p:nvSpPr>
        <p:spPr>
          <a:xfrm>
            <a:off x="571500" y="6169521"/>
            <a:ext cx="26091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2"/>
          <p:cNvSpPr/>
          <p:nvPr/>
        </p:nvSpPr>
        <p:spPr>
          <a:xfrm>
            <a:off x="3180605" y="6169521"/>
            <a:ext cx="272489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571500" y="6769596"/>
            <a:ext cx="2609105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3180605" y="6769596"/>
            <a:ext cx="2724894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The Differential Equation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 txBox="1"/>
          <p:nvPr/>
        </p:nvSpPr>
        <p:spPr>
          <a:xfrm>
            <a:off x="571500" y="238125"/>
            <a:ext cx="572071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ELASTIC CURVE &amp; DEFLECTION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6" name="Google Shape;23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/>
          <p:nvPr/>
        </p:nvSpPr>
        <p:spPr>
          <a:xfrm>
            <a:off x="5619750" y="3503265"/>
            <a:ext cx="9525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4757737" y="3808065"/>
            <a:ext cx="26765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4AF37"/>
                </a:solidFill>
                <a:latin typeface="Open Sans"/>
                <a:ea typeface="Open Sans"/>
                <a:cs typeface="Open Sans"/>
                <a:sym typeface="Open Sans"/>
              </a:rPr>
              <a:t>Superposition of Stresses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320403" y="2541240"/>
            <a:ext cx="9551193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Section V: Combined Loadings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5" name="Google Shape;24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133725"/>
            <a:ext cx="5334000" cy="12400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571500" y="2076450"/>
            <a:ext cx="533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When a member is subjected to axial, bending, and shear loads simultaneously, the total stress at any point is the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algebraic sum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of individual stresses.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571500" y="4564260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Steps for Analysis:</a:t>
            </a:r>
            <a:endParaRPr/>
          </a:p>
        </p:txBody>
      </p:sp>
      <p:pic>
        <p:nvPicPr>
          <p:cNvPr descr="image.png" id="251" name="Google Shape;251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05550" y="2095500"/>
            <a:ext cx="5295900" cy="3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809625" y="3324225"/>
            <a:ext cx="4905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Total Normal Stress:</a:t>
            </a:r>
            <a:endParaRPr/>
          </a:p>
        </p:txBody>
      </p:sp>
      <p:pic>
        <p:nvPicPr>
          <p:cNvPr descr="image.png" id="253" name="Google Shape;253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625" y="3771900"/>
            <a:ext cx="4905375" cy="41136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4"/>
          <p:cNvSpPr txBox="1"/>
          <p:nvPr/>
        </p:nvSpPr>
        <p:spPr>
          <a:xfrm>
            <a:off x="800100" y="50214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1.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952500" y="502146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Calculate individual internal forces (P, V, M).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800100" y="53262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2.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952500" y="532626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Compute stress from each component.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800100" y="563106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3.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952500" y="563106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240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Sum algebraically for the target point.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Method of Superposition</a:t>
            </a:r>
            <a:endParaRPr/>
          </a:p>
        </p:txBody>
      </p:sp>
      <p:sp>
        <p:nvSpPr>
          <p:cNvPr id="261" name="Google Shape;261;p24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 txBox="1"/>
          <p:nvPr/>
        </p:nvSpPr>
        <p:spPr>
          <a:xfrm>
            <a:off x="571500" y="238125"/>
            <a:ext cx="410051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COMBINED LOADINGS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667250"/>
            <a:ext cx="1104900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5"/>
          <p:cNvSpPr txBox="1"/>
          <p:nvPr/>
        </p:nvSpPr>
        <p:spPr>
          <a:xfrm>
            <a:off x="809625" y="4857750"/>
            <a:ext cx="106203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Reference: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Young, H. D., Freedman, R. A., &amp; Ford, L. A. (2016).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University Physics with Modern Physics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. Pearson.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904875" y="22288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Internal Forces: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Shear (V) and Moment (M) are derived from load distributions via differentiation/integration.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904875" y="267652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Flexure: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Normal stress is zero at the neutral axis and maximum at the extreme fibers.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904875" y="312420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Shear Stress: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Transverse shear is parabolic and peaks at the neutral axis for rectangular sections.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904875" y="3571875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Deflection: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Stiffness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EI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resists bending; boundary conditions are critical for integration constants.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04875" y="4019550"/>
            <a:ext cx="10715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Design: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 Combined loadings represent real-world structural challenges, requiring careful superposition.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762000" y="127635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Synthesis of Mechanics Concepts</a:t>
            </a:r>
            <a:endParaRPr/>
          </a:p>
        </p:txBody>
      </p:sp>
      <p:sp>
        <p:nvSpPr>
          <p:cNvPr id="277" name="Google Shape;277;p25"/>
          <p:cNvSpPr/>
          <p:nvPr/>
        </p:nvSpPr>
        <p:spPr>
          <a:xfrm>
            <a:off x="571500" y="127635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571500" y="238125"/>
            <a:ext cx="354044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COURSE SUMMARY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6695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1462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623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609975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057650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19750" y="1610617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6"/>
          <p:cNvSpPr txBox="1"/>
          <p:nvPr/>
        </p:nvSpPr>
        <p:spPr>
          <a:xfrm>
            <a:off x="2952750" y="3877567"/>
            <a:ext cx="62865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Thank you for your attention during today's lesson.</a:t>
            </a:r>
            <a:endParaRPr/>
          </a:p>
        </p:txBody>
      </p:sp>
      <p:sp>
        <p:nvSpPr>
          <p:cNvPr id="292" name="Google Shape;292;p26"/>
          <p:cNvSpPr txBox="1"/>
          <p:nvPr/>
        </p:nvSpPr>
        <p:spPr>
          <a:xfrm>
            <a:off x="3981450" y="5018633"/>
            <a:ext cx="4229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99999"/>
                </a:solidFill>
                <a:latin typeface="Open Sans"/>
                <a:ea typeface="Open Sans"/>
                <a:cs typeface="Open Sans"/>
                <a:sym typeface="Open Sans"/>
              </a:rPr>
              <a:t>Engr. Professor | University Engineering Department</a:t>
            </a:r>
            <a:endParaRPr/>
          </a:p>
        </p:txBody>
      </p:sp>
      <p:sp>
        <p:nvSpPr>
          <p:cNvPr id="293" name="Google Shape;293;p26"/>
          <p:cNvSpPr txBox="1"/>
          <p:nvPr/>
        </p:nvSpPr>
        <p:spPr>
          <a:xfrm>
            <a:off x="3985736" y="2848867"/>
            <a:ext cx="4220527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800000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7"/>
          <p:cNvSpPr/>
          <p:nvPr/>
        </p:nvSpPr>
        <p:spPr>
          <a:xfrm>
            <a:off x="571500" y="118110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571500" y="1965870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71500" y="2750641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/>
          <p:nvPr/>
        </p:nvSpPr>
        <p:spPr>
          <a:xfrm>
            <a:off x="571500" y="3733502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7"/>
          <p:cNvSpPr/>
          <p:nvPr/>
        </p:nvSpPr>
        <p:spPr>
          <a:xfrm>
            <a:off x="571500" y="1956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7"/>
          <p:cNvSpPr/>
          <p:nvPr/>
        </p:nvSpPr>
        <p:spPr>
          <a:xfrm>
            <a:off x="571500" y="195634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/>
          <p:nvPr/>
        </p:nvSpPr>
        <p:spPr>
          <a:xfrm>
            <a:off x="571500" y="2741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7"/>
          <p:cNvSpPr/>
          <p:nvPr/>
        </p:nvSpPr>
        <p:spPr>
          <a:xfrm>
            <a:off x="571500" y="2741116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7"/>
          <p:cNvSpPr/>
          <p:nvPr/>
        </p:nvSpPr>
        <p:spPr>
          <a:xfrm>
            <a:off x="571500" y="3723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7"/>
          <p:cNvSpPr/>
          <p:nvPr/>
        </p:nvSpPr>
        <p:spPr>
          <a:xfrm>
            <a:off x="571500" y="372397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571500" y="4508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7"/>
          <p:cNvSpPr/>
          <p:nvPr/>
        </p:nvSpPr>
        <p:spPr>
          <a:xfrm>
            <a:off x="571500" y="4508748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1" name="Google Shape;31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30523"/>
            <a:ext cx="2352675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1666875" y="132397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https://structuralbasics.com/wp-content/uploads/2022/08/uniformly-distributed-load-simply-supported-beam-bending-moment-and-shear-force-1024x572.png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666875" y="156969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www.structuralbasics.com</a:t>
            </a:r>
            <a:endParaRPr/>
          </a:p>
        </p:txBody>
      </p:sp>
      <p:pic>
        <p:nvPicPr>
          <p:cNvPr descr="image.png" id="314" name="Google Shape;31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15294"/>
            <a:ext cx="16764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1666875" y="2108745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https://cdnassets.hw.net/7a/ab/139c196b4e60be43dd78cf4900aa/0922-jlc-ttt-01-bending-stresses-rev.jpg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1666875" y="2354460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www.jlconline.com</a:t>
            </a:r>
            <a:endParaRPr/>
          </a:p>
        </p:txBody>
      </p:sp>
      <p:pic>
        <p:nvPicPr>
          <p:cNvPr descr="image.png" id="317" name="Google Shape;317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9918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7"/>
          <p:cNvSpPr txBox="1"/>
          <p:nvPr/>
        </p:nvSpPr>
        <p:spPr>
          <a:xfrm>
            <a:off x="1666875" y="2893516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https://i.ytimg.com/vi/HevBRYbvmFQ/hq720.jpg?sqp=-oaymwE7CK4FEIIDSFryq4qpAy0IARUAAAAAGAElAADIQj0AgKJD8AEB-AG-B4AC0AWKAgwIABABGD0gYShlMA8=&amp;rs=AOn4CLCGnzf8EiVMhOjaSqA7Xyuc6rur1g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1666875" y="3337321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www.youtube.com</a:t>
            </a:r>
            <a:endParaRPr/>
          </a:p>
        </p:txBody>
      </p:sp>
      <p:pic>
        <p:nvPicPr>
          <p:cNvPr descr="image.png" id="320" name="Google Shape;32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882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/>
          <p:nvPr/>
        </p:nvSpPr>
        <p:spPr>
          <a:xfrm>
            <a:off x="1666875" y="3876377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https://www.mechref.org/sol/beam_deflection/ElasticCurveBeam.png</a:t>
            </a: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666875" y="4122092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www.mechref.org</a:t>
            </a:r>
            <a:endParaRPr/>
          </a:p>
        </p:txBody>
      </p:sp>
      <p:pic>
        <p:nvPicPr>
          <p:cNvPr descr="image.png" id="323" name="Google Shape;323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66769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27"/>
          <p:cNvSpPr txBox="1"/>
          <p:nvPr/>
        </p:nvSpPr>
        <p:spPr>
          <a:xfrm>
            <a:off x="1666875" y="4661148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https://i.ytimg.com/vi/Py75Mc5PkT8/maxresdefault.jpg</a:t>
            </a:r>
            <a:endParaRPr/>
          </a:p>
        </p:txBody>
      </p:sp>
      <p:sp>
        <p:nvSpPr>
          <p:cNvPr id="325" name="Google Shape;325;p27"/>
          <p:cNvSpPr txBox="1"/>
          <p:nvPr/>
        </p:nvSpPr>
        <p:spPr>
          <a:xfrm>
            <a:off x="1666875" y="4906863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www.youtube.com</a:t>
            </a:r>
            <a:endParaRPr/>
          </a:p>
        </p:txBody>
      </p:sp>
      <p:sp>
        <p:nvSpPr>
          <p:cNvPr id="326" name="Google Shape;326;p27"/>
          <p:cNvSpPr txBox="1"/>
          <p:nvPr/>
        </p:nvSpPr>
        <p:spPr>
          <a:xfrm>
            <a:off x="762000" y="381000"/>
            <a:ext cx="1140142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27" name="Google Shape;327;p27"/>
          <p:cNvSpPr/>
          <p:nvPr/>
        </p:nvSpPr>
        <p:spPr>
          <a:xfrm>
            <a:off x="571500" y="381000"/>
            <a:ext cx="76200" cy="419100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